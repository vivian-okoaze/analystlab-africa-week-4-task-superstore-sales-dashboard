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7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9A59-271A-4AE4-B8D1-970621C7701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9E26C97-183B-4BB2-98A8-C07AB010A8D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1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9A59-271A-4AE4-B8D1-970621C7701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6C97-183B-4BB2-98A8-C07AB010A8D2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003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9A59-271A-4AE4-B8D1-970621C7701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6C97-183B-4BB2-98A8-C07AB010A8D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2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9A59-271A-4AE4-B8D1-970621C7701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6C97-183B-4BB2-98A8-C07AB010A8D2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47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9A59-271A-4AE4-B8D1-970621C7701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6C97-183B-4BB2-98A8-C07AB010A8D2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83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9A59-271A-4AE4-B8D1-970621C7701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6C97-183B-4BB2-98A8-C07AB010A8D2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71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9A59-271A-4AE4-B8D1-970621C7701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6C97-183B-4BB2-98A8-C07AB010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2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9A59-271A-4AE4-B8D1-970621C7701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6C97-183B-4BB2-98A8-C07AB010A8D2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904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9E99A59-271A-4AE4-B8D1-970621C7701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6C97-183B-4BB2-98A8-C07AB010A8D2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42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9A59-271A-4AE4-B8D1-970621C7701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6C97-183B-4BB2-98A8-C07AB010A8D2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9A59-271A-4AE4-B8D1-970621C7701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6C97-183B-4BB2-98A8-C07AB010A8D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767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99A59-271A-4AE4-B8D1-970621C7701A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9E26C97-183B-4BB2-98A8-C07AB010A8D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660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0B49BCB-70EF-EA82-D11F-470ECBE1A40F}"/>
              </a:ext>
            </a:extLst>
          </p:cNvPr>
          <p:cNvSpPr/>
          <p:nvPr/>
        </p:nvSpPr>
        <p:spPr>
          <a:xfrm>
            <a:off x="0" y="0"/>
            <a:ext cx="5334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7BA1A73B-0812-6AFA-E3E1-465FDC986C74}"/>
              </a:ext>
            </a:extLst>
          </p:cNvPr>
          <p:cNvSpPr/>
          <p:nvPr/>
        </p:nvSpPr>
        <p:spPr>
          <a:xfrm>
            <a:off x="2100885" y="198119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Performance Dashboard </a:t>
            </a:r>
            <a:endParaRPr lang="en-US" sz="40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097BB82-0740-9E15-5A14-22A457E22E1E}"/>
              </a:ext>
            </a:extLst>
          </p:cNvPr>
          <p:cNvSpPr/>
          <p:nvPr/>
        </p:nvSpPr>
        <p:spPr>
          <a:xfrm>
            <a:off x="2951038" y="305670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| Regional Insights | Product Analytics | Strategic Recommendations</a:t>
            </a:r>
            <a:endParaRPr lang="en-US" sz="13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74A0E3CD-4D66-4381-524B-FFC1B8393686}"/>
              </a:ext>
            </a:extLst>
          </p:cNvPr>
          <p:cNvSpPr/>
          <p:nvPr/>
        </p:nvSpPr>
        <p:spPr>
          <a:xfrm>
            <a:off x="8599714" y="4528456"/>
            <a:ext cx="26125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Vivian </a:t>
            </a:r>
            <a:r>
              <a:rPr lang="en-US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Okoaze</a:t>
            </a:r>
            <a:endParaRPr lang="en-US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Sales &amp; Product Analyst</a:t>
            </a:r>
            <a:endParaRPr lang="en-US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C9723ACE-C8D9-46E7-EC34-8AC7319726AE}"/>
              </a:ext>
            </a:extLst>
          </p:cNvPr>
          <p:cNvSpPr/>
          <p:nvPr/>
        </p:nvSpPr>
        <p:spPr>
          <a:xfrm>
            <a:off x="2383972" y="5856520"/>
            <a:ext cx="4909457" cy="90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</a:rPr>
              <a:t>Date and tool used: Power BI | 2014–2017</a:t>
            </a:r>
          </a:p>
        </p:txBody>
      </p:sp>
    </p:spTree>
    <p:extLst>
      <p:ext uri="{BB962C8B-B14F-4D97-AF65-F5344CB8AC3E}">
        <p14:creationId xmlns:p14="http://schemas.microsoft.com/office/powerpoint/2010/main" val="60288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799C-243B-E7B0-65E7-7831AE60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br>
              <a:rPr lang="en-US" dirty="0"/>
            </a:br>
            <a:r>
              <a:rPr lang="en-US" sz="2000" cap="none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superstore dataset structure and scope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A9226C-DE5B-025D-048A-01F8987BF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3" name="Shape 3">
            <a:extLst>
              <a:ext uri="{FF2B5EF4-FFF2-40B4-BE49-F238E27FC236}">
                <a16:creationId xmlns:a16="http://schemas.microsoft.com/office/drawing/2014/main" id="{A8B3904D-D0FB-A33A-551B-6B1D50B97DD5}"/>
              </a:ext>
            </a:extLst>
          </p:cNvPr>
          <p:cNvSpPr/>
          <p:nvPr/>
        </p:nvSpPr>
        <p:spPr>
          <a:xfrm>
            <a:off x="2080816" y="1989385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C6BC9B17-AB9F-0DA9-B012-8FF9F1846B73}"/>
              </a:ext>
            </a:extLst>
          </p:cNvPr>
          <p:cNvSpPr/>
          <p:nvPr/>
        </p:nvSpPr>
        <p:spPr>
          <a:xfrm>
            <a:off x="2080816" y="2126545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9,994</a:t>
            </a:r>
            <a:endParaRPr lang="en-US" sz="3000" dirty="0"/>
          </a:p>
        </p:txBody>
      </p:sp>
      <p:sp>
        <p:nvSpPr>
          <p:cNvPr id="87" name="Text 5">
            <a:extLst>
              <a:ext uri="{FF2B5EF4-FFF2-40B4-BE49-F238E27FC236}">
                <a16:creationId xmlns:a16="http://schemas.microsoft.com/office/drawing/2014/main" id="{35B708E9-9269-3790-2C34-914DAEE230F9}"/>
              </a:ext>
            </a:extLst>
          </p:cNvPr>
          <p:cNvSpPr/>
          <p:nvPr/>
        </p:nvSpPr>
        <p:spPr>
          <a:xfrm>
            <a:off x="2080816" y="2739193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89" name="Text 6">
            <a:extLst>
              <a:ext uri="{FF2B5EF4-FFF2-40B4-BE49-F238E27FC236}">
                <a16:creationId xmlns:a16="http://schemas.microsoft.com/office/drawing/2014/main" id="{886C7B68-632B-2261-4180-F03DBEC1EE59}"/>
              </a:ext>
            </a:extLst>
          </p:cNvPr>
          <p:cNvSpPr/>
          <p:nvPr/>
        </p:nvSpPr>
        <p:spPr>
          <a:xfrm>
            <a:off x="2080816" y="3040945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91" name="Shape 7">
            <a:extLst>
              <a:ext uri="{FF2B5EF4-FFF2-40B4-BE49-F238E27FC236}">
                <a16:creationId xmlns:a16="http://schemas.microsoft.com/office/drawing/2014/main" id="{D4744BC0-CE9E-6862-A824-63901B452D39}"/>
              </a:ext>
            </a:extLst>
          </p:cNvPr>
          <p:cNvSpPr/>
          <p:nvPr/>
        </p:nvSpPr>
        <p:spPr>
          <a:xfrm>
            <a:off x="4257088" y="1989385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0BFBE1C4-9693-50F4-1D3E-119518505BEA}"/>
              </a:ext>
            </a:extLst>
          </p:cNvPr>
          <p:cNvSpPr/>
          <p:nvPr/>
        </p:nvSpPr>
        <p:spPr>
          <a:xfrm>
            <a:off x="4257088" y="2126545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95" name="Text 9">
            <a:extLst>
              <a:ext uri="{FF2B5EF4-FFF2-40B4-BE49-F238E27FC236}">
                <a16:creationId xmlns:a16="http://schemas.microsoft.com/office/drawing/2014/main" id="{7E7AB44E-B80B-743A-454C-4F3B0694B320}"/>
              </a:ext>
            </a:extLst>
          </p:cNvPr>
          <p:cNvSpPr/>
          <p:nvPr/>
        </p:nvSpPr>
        <p:spPr>
          <a:xfrm>
            <a:off x="4257088" y="2739193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97" name="Text 10">
            <a:extLst>
              <a:ext uri="{FF2B5EF4-FFF2-40B4-BE49-F238E27FC236}">
                <a16:creationId xmlns:a16="http://schemas.microsoft.com/office/drawing/2014/main" id="{0CD84678-D9F0-B99E-0741-E259049DF843}"/>
              </a:ext>
            </a:extLst>
          </p:cNvPr>
          <p:cNvSpPr/>
          <p:nvPr/>
        </p:nvSpPr>
        <p:spPr>
          <a:xfrm>
            <a:off x="4257088" y="3040945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99" name="Shape 11">
            <a:extLst>
              <a:ext uri="{FF2B5EF4-FFF2-40B4-BE49-F238E27FC236}">
                <a16:creationId xmlns:a16="http://schemas.microsoft.com/office/drawing/2014/main" id="{F25156A2-2341-9DBD-4DB5-8042644B5716}"/>
              </a:ext>
            </a:extLst>
          </p:cNvPr>
          <p:cNvSpPr/>
          <p:nvPr/>
        </p:nvSpPr>
        <p:spPr>
          <a:xfrm>
            <a:off x="6433360" y="1989385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Text 12">
            <a:extLst>
              <a:ext uri="{FF2B5EF4-FFF2-40B4-BE49-F238E27FC236}">
                <a16:creationId xmlns:a16="http://schemas.microsoft.com/office/drawing/2014/main" id="{C8E29823-231E-97A8-F123-8D7802F0518A}"/>
              </a:ext>
            </a:extLst>
          </p:cNvPr>
          <p:cNvSpPr/>
          <p:nvPr/>
        </p:nvSpPr>
        <p:spPr>
          <a:xfrm>
            <a:off x="6433360" y="2126545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5BE22D75-ABE4-9759-09FB-A305E3AB8AAA}"/>
              </a:ext>
            </a:extLst>
          </p:cNvPr>
          <p:cNvSpPr/>
          <p:nvPr/>
        </p:nvSpPr>
        <p:spPr>
          <a:xfrm>
            <a:off x="6433360" y="2739193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</a:t>
            </a:r>
            <a:endParaRPr lang="en-US" sz="1100" dirty="0"/>
          </a:p>
        </p:txBody>
      </p:sp>
      <p:sp>
        <p:nvSpPr>
          <p:cNvPr id="105" name="Text 14">
            <a:extLst>
              <a:ext uri="{FF2B5EF4-FFF2-40B4-BE49-F238E27FC236}">
                <a16:creationId xmlns:a16="http://schemas.microsoft.com/office/drawing/2014/main" id="{EE476949-41A8-7124-0920-0A5169F8DF11}"/>
              </a:ext>
            </a:extLst>
          </p:cNvPr>
          <p:cNvSpPr/>
          <p:nvPr/>
        </p:nvSpPr>
        <p:spPr>
          <a:xfrm>
            <a:off x="6433360" y="3040945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2014–2017</a:t>
            </a:r>
            <a:endParaRPr lang="en-US" sz="1000" dirty="0"/>
          </a:p>
        </p:txBody>
      </p:sp>
      <p:sp>
        <p:nvSpPr>
          <p:cNvPr id="107" name="Shape 15">
            <a:extLst>
              <a:ext uri="{FF2B5EF4-FFF2-40B4-BE49-F238E27FC236}">
                <a16:creationId xmlns:a16="http://schemas.microsoft.com/office/drawing/2014/main" id="{F6734EBB-1033-9C58-B3BC-F82C2F9C8406}"/>
              </a:ext>
            </a:extLst>
          </p:cNvPr>
          <p:cNvSpPr/>
          <p:nvPr/>
        </p:nvSpPr>
        <p:spPr>
          <a:xfrm>
            <a:off x="8609632" y="1989385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9" name="Text 16">
            <a:extLst>
              <a:ext uri="{FF2B5EF4-FFF2-40B4-BE49-F238E27FC236}">
                <a16:creationId xmlns:a16="http://schemas.microsoft.com/office/drawing/2014/main" id="{81DD1DD3-2A3F-3A55-A14A-1B4D5FA97B70}"/>
              </a:ext>
            </a:extLst>
          </p:cNvPr>
          <p:cNvSpPr/>
          <p:nvPr/>
        </p:nvSpPr>
        <p:spPr>
          <a:xfrm>
            <a:off x="8609632" y="2126545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3000" dirty="0"/>
          </a:p>
        </p:txBody>
      </p:sp>
      <p:sp>
        <p:nvSpPr>
          <p:cNvPr id="111" name="Text 17">
            <a:extLst>
              <a:ext uri="{FF2B5EF4-FFF2-40B4-BE49-F238E27FC236}">
                <a16:creationId xmlns:a16="http://schemas.microsoft.com/office/drawing/2014/main" id="{31011321-C8DA-0476-C3B3-B2D0C98518C7}"/>
              </a:ext>
            </a:extLst>
          </p:cNvPr>
          <p:cNvSpPr/>
          <p:nvPr/>
        </p:nvSpPr>
        <p:spPr>
          <a:xfrm>
            <a:off x="8609632" y="2739193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13" name="Text 18">
            <a:extLst>
              <a:ext uri="{FF2B5EF4-FFF2-40B4-BE49-F238E27FC236}">
                <a16:creationId xmlns:a16="http://schemas.microsoft.com/office/drawing/2014/main" id="{9CA76C97-FFF7-8CBA-B189-BCA8F6AA6126}"/>
              </a:ext>
            </a:extLst>
          </p:cNvPr>
          <p:cNvSpPr/>
          <p:nvPr/>
        </p:nvSpPr>
        <p:spPr>
          <a:xfrm>
            <a:off x="8609632" y="3040945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000" dirty="0"/>
          </a:p>
        </p:txBody>
      </p:sp>
      <p:sp>
        <p:nvSpPr>
          <p:cNvPr id="115" name="Text 19">
            <a:extLst>
              <a:ext uri="{FF2B5EF4-FFF2-40B4-BE49-F238E27FC236}">
                <a16:creationId xmlns:a16="http://schemas.microsoft.com/office/drawing/2014/main" id="{28F97C7D-8C16-9FDA-E1BC-A75B22F65F42}"/>
              </a:ext>
            </a:extLst>
          </p:cNvPr>
          <p:cNvSpPr/>
          <p:nvPr/>
        </p:nvSpPr>
        <p:spPr>
          <a:xfrm>
            <a:off x="2080816" y="3478075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Column Groups</a:t>
            </a:r>
            <a:endParaRPr lang="en-US" sz="1400" dirty="0"/>
          </a:p>
        </p:txBody>
      </p:sp>
      <p:graphicFrame>
        <p:nvGraphicFramePr>
          <p:cNvPr id="155" name="Table 154">
            <a:extLst>
              <a:ext uri="{FF2B5EF4-FFF2-40B4-BE49-F238E27FC236}">
                <a16:creationId xmlns:a16="http://schemas.microsoft.com/office/drawing/2014/main" id="{4D031325-F36A-DE6C-F441-BD37F284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06449"/>
              </p:ext>
            </p:extLst>
          </p:nvPr>
        </p:nvGraphicFramePr>
        <p:xfrm>
          <a:off x="2103156" y="3784063"/>
          <a:ext cx="7643010" cy="204979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821505">
                  <a:extLst>
                    <a:ext uri="{9D8B030D-6E8A-4147-A177-3AD203B41FA5}">
                      <a16:colId xmlns:a16="http://schemas.microsoft.com/office/drawing/2014/main" val="1094884535"/>
                    </a:ext>
                  </a:extLst>
                </a:gridCol>
                <a:gridCol w="3821505">
                  <a:extLst>
                    <a:ext uri="{9D8B030D-6E8A-4147-A177-3AD203B41FA5}">
                      <a16:colId xmlns:a16="http://schemas.microsoft.com/office/drawing/2014/main" val="2171550798"/>
                    </a:ext>
                  </a:extLst>
                </a:gridCol>
              </a:tblGrid>
              <a:tr h="464358">
                <a:tc>
                  <a:txBody>
                    <a:bodyPr/>
                    <a:lstStyle/>
                    <a:p>
                      <a:r>
                        <a:rPr lang="en-US" sz="1400" b="0" dirty="0"/>
                        <a:t>Identifiers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Order ID, Customer ID, Row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77737"/>
                  </a:ext>
                </a:extLst>
              </a:tr>
              <a:tr h="317088">
                <a:tc>
                  <a:txBody>
                    <a:bodyPr/>
                    <a:lstStyle/>
                    <a:p>
                      <a:r>
                        <a:rPr lang="en-US" sz="1400" b="0" dirty="0"/>
                        <a:t>Product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Category, Sub-category, Product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020115"/>
                  </a:ext>
                </a:extLst>
              </a:tr>
              <a:tr h="317088">
                <a:tc>
                  <a:txBody>
                    <a:bodyPr/>
                    <a:lstStyle/>
                    <a:p>
                      <a:r>
                        <a:rPr lang="en-US" sz="1400" b="0" dirty="0"/>
                        <a:t>Date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Order Date, Ship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709173"/>
                  </a:ext>
                </a:extLst>
              </a:tr>
              <a:tr h="317088">
                <a:tc>
                  <a:txBody>
                    <a:bodyPr/>
                    <a:lstStyle/>
                    <a:p>
                      <a:r>
                        <a:rPr lang="en-US" sz="1400" b="0" dirty="0"/>
                        <a:t>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Ship Mode,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719631"/>
                  </a:ext>
                </a:extLst>
              </a:tr>
              <a:tr h="317088">
                <a:tc>
                  <a:txBody>
                    <a:bodyPr/>
                    <a:lstStyle/>
                    <a:p>
                      <a:r>
                        <a:rPr lang="en-US" sz="1400" b="0" dirty="0"/>
                        <a:t>Geography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Country, Region, State, City, Postal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876609"/>
                  </a:ext>
                </a:extLst>
              </a:tr>
              <a:tr h="317088">
                <a:tc>
                  <a:txBody>
                    <a:bodyPr/>
                    <a:lstStyle/>
                    <a:p>
                      <a:r>
                        <a:rPr lang="en-US" sz="1400" b="0" dirty="0"/>
                        <a:t>Financials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Sales, Quantity, Discount, 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065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593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173D8-225A-FADD-1A46-CBAD03C3D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br>
              <a:rPr lang="en-US" dirty="0"/>
            </a:br>
            <a:r>
              <a:rPr lang="en-US" sz="2200" cap="none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does this dashboard answer?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5BAF-29CB-493A-48CE-7B334251B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Which regions and products drive the most profit?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Which customers are most valuable?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Is delivery performance meeting expectations?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Where are we losing money?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generate the highest value?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36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55534-4616-237E-068D-210F5283F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 (KPI)</a:t>
            </a:r>
            <a:br>
              <a:rPr lang="en-US" dirty="0"/>
            </a:br>
            <a:r>
              <a:rPr lang="en-US" sz="2000" cap="none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critical metrics powering the superstore dashboard</a:t>
            </a:r>
            <a:br>
              <a:rPr lang="en-US" dirty="0"/>
            </a:b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8F69283-0ED6-8268-863E-FD91E7D4177D}"/>
              </a:ext>
            </a:extLst>
          </p:cNvPr>
          <p:cNvSpPr/>
          <p:nvPr/>
        </p:nvSpPr>
        <p:spPr>
          <a:xfrm>
            <a:off x="725714" y="2031269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ECF4CEF-8C0F-B771-C6AF-A8B01498D106}"/>
              </a:ext>
            </a:extLst>
          </p:cNvPr>
          <p:cNvSpPr/>
          <p:nvPr/>
        </p:nvSpPr>
        <p:spPr>
          <a:xfrm>
            <a:off x="725714" y="2031269"/>
            <a:ext cx="19659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31B4C30-9FFE-2D1A-6EF8-D391241B3E1A}"/>
              </a:ext>
            </a:extLst>
          </p:cNvPr>
          <p:cNvSpPr/>
          <p:nvPr/>
        </p:nvSpPr>
        <p:spPr>
          <a:xfrm>
            <a:off x="725714" y="2287301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$2.30M</a:t>
            </a:r>
            <a:endParaRPr lang="en-US" sz="26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FF546C0-67DB-5FC7-965B-3BE117E1EC49}"/>
              </a:ext>
            </a:extLst>
          </p:cNvPr>
          <p:cNvSpPr/>
          <p:nvPr/>
        </p:nvSpPr>
        <p:spPr>
          <a:xfrm>
            <a:off x="725714" y="2927381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4222917-63B3-A21F-1EDF-CF2796C2F47E}"/>
              </a:ext>
            </a:extLst>
          </p:cNvPr>
          <p:cNvSpPr/>
          <p:nvPr/>
        </p:nvSpPr>
        <p:spPr>
          <a:xfrm>
            <a:off x="817154" y="3219989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sales across 4 years</a:t>
            </a:r>
            <a:endParaRPr lang="en-US" sz="9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5CE962DA-9E44-B1F2-7F05-6B6268BB5782}"/>
              </a:ext>
            </a:extLst>
          </p:cNvPr>
          <p:cNvSpPr/>
          <p:nvPr/>
        </p:nvSpPr>
        <p:spPr>
          <a:xfrm>
            <a:off x="2920274" y="2031269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87B79245-99A8-F59C-28C0-C3B59A7EB4AD}"/>
              </a:ext>
            </a:extLst>
          </p:cNvPr>
          <p:cNvSpPr/>
          <p:nvPr/>
        </p:nvSpPr>
        <p:spPr>
          <a:xfrm>
            <a:off x="2920274" y="2031269"/>
            <a:ext cx="196596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9606577D-C5F2-1E78-F8EC-59B47578B8AA}"/>
              </a:ext>
            </a:extLst>
          </p:cNvPr>
          <p:cNvSpPr/>
          <p:nvPr/>
        </p:nvSpPr>
        <p:spPr>
          <a:xfrm>
            <a:off x="2920274" y="2287301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$286K</a:t>
            </a:r>
            <a:endParaRPr lang="en-US" sz="26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5C3A1E86-CE7C-F511-8EE0-831948729465}"/>
              </a:ext>
            </a:extLst>
          </p:cNvPr>
          <p:cNvSpPr/>
          <p:nvPr/>
        </p:nvSpPr>
        <p:spPr>
          <a:xfrm>
            <a:off x="2920274" y="2927381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9856145F-4AE1-BABC-E3ED-B4EF4AD48BDE}"/>
              </a:ext>
            </a:extLst>
          </p:cNvPr>
          <p:cNvSpPr/>
          <p:nvPr/>
        </p:nvSpPr>
        <p:spPr>
          <a:xfrm>
            <a:off x="3011714" y="3219989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after discounts &amp; COGS</a:t>
            </a:r>
            <a:endParaRPr lang="en-US" sz="900" dirty="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3434205E-004A-A5C1-67A7-4761935FF795}"/>
              </a:ext>
            </a:extLst>
          </p:cNvPr>
          <p:cNvSpPr/>
          <p:nvPr/>
        </p:nvSpPr>
        <p:spPr>
          <a:xfrm>
            <a:off x="5114834" y="2031269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6549AE3A-766F-FDD1-408C-5F8854BB1926}"/>
              </a:ext>
            </a:extLst>
          </p:cNvPr>
          <p:cNvSpPr/>
          <p:nvPr/>
        </p:nvSpPr>
        <p:spPr>
          <a:xfrm>
            <a:off x="5114834" y="2031269"/>
            <a:ext cx="1965960" cy="1645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F1312D7E-A472-EC89-2605-8E9AA741AD3E}"/>
              </a:ext>
            </a:extLst>
          </p:cNvPr>
          <p:cNvSpPr/>
          <p:nvPr/>
        </p:nvSpPr>
        <p:spPr>
          <a:xfrm>
            <a:off x="5114834" y="2287301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</a:rPr>
              <a:t>5,009</a:t>
            </a:r>
            <a:endParaRPr lang="en-US" sz="260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16E77E22-A293-D4A4-6DD8-C718E080649E}"/>
              </a:ext>
            </a:extLst>
          </p:cNvPr>
          <p:cNvSpPr/>
          <p:nvPr/>
        </p:nvSpPr>
        <p:spPr>
          <a:xfrm>
            <a:off x="5114834" y="2927381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CA62FE92-317B-37AE-7708-6DD14FA1AD38}"/>
              </a:ext>
            </a:extLst>
          </p:cNvPr>
          <p:cNvSpPr/>
          <p:nvPr/>
        </p:nvSpPr>
        <p:spPr>
          <a:xfrm>
            <a:off x="5206274" y="3219989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transactions</a:t>
            </a:r>
            <a:endParaRPr lang="en-US" sz="900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6A7D618B-606E-711B-BE4B-A6741BDF78AB}"/>
              </a:ext>
            </a:extLst>
          </p:cNvPr>
          <p:cNvSpPr/>
          <p:nvPr/>
        </p:nvSpPr>
        <p:spPr>
          <a:xfrm>
            <a:off x="7309394" y="2031269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BCFB20B4-9FCA-D127-B927-614A8535B583}"/>
              </a:ext>
            </a:extLst>
          </p:cNvPr>
          <p:cNvSpPr/>
          <p:nvPr/>
        </p:nvSpPr>
        <p:spPr>
          <a:xfrm>
            <a:off x="7309394" y="2031269"/>
            <a:ext cx="196596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9F7505E1-AE74-EBA0-45DF-E7CC48C3BD46}"/>
              </a:ext>
            </a:extLst>
          </p:cNvPr>
          <p:cNvSpPr/>
          <p:nvPr/>
        </p:nvSpPr>
        <p:spPr>
          <a:xfrm>
            <a:off x="7309394" y="2287301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12.5%</a:t>
            </a:r>
            <a:endParaRPr lang="en-US" sz="260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9D424126-38D7-E474-EDB6-19B53C094A44}"/>
              </a:ext>
            </a:extLst>
          </p:cNvPr>
          <p:cNvSpPr/>
          <p:nvPr/>
        </p:nvSpPr>
        <p:spPr>
          <a:xfrm>
            <a:off x="7309394" y="2927381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DAF1F354-1428-B608-D425-2D5D4152AD0F}"/>
              </a:ext>
            </a:extLst>
          </p:cNvPr>
          <p:cNvSpPr/>
          <p:nvPr/>
        </p:nvSpPr>
        <p:spPr>
          <a:xfrm>
            <a:off x="7400834" y="3219989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÷ Revenue × 100</a:t>
            </a:r>
            <a:endParaRPr lang="en-US" sz="900" dirty="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163B7A85-1573-DB80-BCF0-68CF39CD10DB}"/>
              </a:ext>
            </a:extLst>
          </p:cNvPr>
          <p:cNvSpPr/>
          <p:nvPr/>
        </p:nvSpPr>
        <p:spPr>
          <a:xfrm>
            <a:off x="1817914" y="3905789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AB39459F-EC7D-4889-27F7-86EDAA94FAD1}"/>
              </a:ext>
            </a:extLst>
          </p:cNvPr>
          <p:cNvSpPr/>
          <p:nvPr/>
        </p:nvSpPr>
        <p:spPr>
          <a:xfrm>
            <a:off x="1817914" y="3905789"/>
            <a:ext cx="1965960" cy="164592"/>
          </a:xfrm>
          <a:prstGeom prst="rect">
            <a:avLst/>
          </a:prstGeom>
          <a:solidFill>
            <a:srgbClr val="002060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1E692828-D2AF-0512-E7A0-FEA5075A5802}"/>
              </a:ext>
            </a:extLst>
          </p:cNvPr>
          <p:cNvSpPr/>
          <p:nvPr/>
        </p:nvSpPr>
        <p:spPr>
          <a:xfrm>
            <a:off x="1817914" y="4161821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793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DA934567-9108-0092-7945-85709B313F4F}"/>
              </a:ext>
            </a:extLst>
          </p:cNvPr>
          <p:cNvSpPr/>
          <p:nvPr/>
        </p:nvSpPr>
        <p:spPr>
          <a:xfrm>
            <a:off x="1817914" y="4801901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5546112F-96F9-41D1-A988-540A14D961A8}"/>
              </a:ext>
            </a:extLst>
          </p:cNvPr>
          <p:cNvSpPr/>
          <p:nvPr/>
        </p:nvSpPr>
        <p:spPr>
          <a:xfrm>
            <a:off x="1909354" y="5094509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count Customer ID</a:t>
            </a:r>
            <a:endParaRPr lang="en-US" sz="900" dirty="0"/>
          </a:p>
        </p:txBody>
      </p:sp>
      <p:sp>
        <p:nvSpPr>
          <p:cNvPr id="55" name="Shape 28">
            <a:extLst>
              <a:ext uri="{FF2B5EF4-FFF2-40B4-BE49-F238E27FC236}">
                <a16:creationId xmlns:a16="http://schemas.microsoft.com/office/drawing/2014/main" id="{34DD44D2-6F1F-9F3A-F757-68E6C32BEC25}"/>
              </a:ext>
            </a:extLst>
          </p:cNvPr>
          <p:cNvSpPr/>
          <p:nvPr/>
        </p:nvSpPr>
        <p:spPr>
          <a:xfrm>
            <a:off x="4012474" y="3905789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4F95FD62-1470-46E1-DF3C-CA6C90DC2A4A}"/>
              </a:ext>
            </a:extLst>
          </p:cNvPr>
          <p:cNvSpPr/>
          <p:nvPr/>
        </p:nvSpPr>
        <p:spPr>
          <a:xfrm>
            <a:off x="4012474" y="3905789"/>
            <a:ext cx="1965960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F12E5C6F-B68F-7512-1F6D-D86C32269206}"/>
              </a:ext>
            </a:extLst>
          </p:cNvPr>
          <p:cNvSpPr/>
          <p:nvPr/>
        </p:nvSpPr>
        <p:spPr>
          <a:xfrm>
            <a:off x="4012474" y="4161821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B2777"/>
                </a:solidFill>
                <a:latin typeface="Cambria" pitchFamily="34" charset="0"/>
                <a:ea typeface="Cambria" pitchFamily="34" charset="-122"/>
              </a:rPr>
              <a:t>38k</a:t>
            </a:r>
            <a:endParaRPr lang="en-US" sz="2600" dirty="0"/>
          </a:p>
        </p:txBody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68DE874C-9E7C-4FCE-C4C6-580DEEBB6C88}"/>
              </a:ext>
            </a:extLst>
          </p:cNvPr>
          <p:cNvSpPr/>
          <p:nvPr/>
        </p:nvSpPr>
        <p:spPr>
          <a:xfrm>
            <a:off x="4012474" y="4801901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100" dirty="0"/>
          </a:p>
        </p:txBody>
      </p:sp>
      <p:sp>
        <p:nvSpPr>
          <p:cNvPr id="63" name="Text 32">
            <a:extLst>
              <a:ext uri="{FF2B5EF4-FFF2-40B4-BE49-F238E27FC236}">
                <a16:creationId xmlns:a16="http://schemas.microsoft.com/office/drawing/2014/main" id="{0998A7AA-84DE-DD98-99F4-CE3ED8BA6326}"/>
              </a:ext>
            </a:extLst>
          </p:cNvPr>
          <p:cNvSpPr/>
          <p:nvPr/>
        </p:nvSpPr>
        <p:spPr>
          <a:xfrm>
            <a:off x="4103914" y="5094509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Quantities Ordered</a:t>
            </a:r>
            <a:endParaRPr lang="en-US" sz="900" dirty="0"/>
          </a:p>
        </p:txBody>
      </p:sp>
      <p:sp>
        <p:nvSpPr>
          <p:cNvPr id="65" name="Shape 33">
            <a:extLst>
              <a:ext uri="{FF2B5EF4-FFF2-40B4-BE49-F238E27FC236}">
                <a16:creationId xmlns:a16="http://schemas.microsoft.com/office/drawing/2014/main" id="{73EBD8D8-EAF6-8B4D-9515-85D4982070DD}"/>
              </a:ext>
            </a:extLst>
          </p:cNvPr>
          <p:cNvSpPr/>
          <p:nvPr/>
        </p:nvSpPr>
        <p:spPr>
          <a:xfrm>
            <a:off x="6207034" y="3905789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34">
            <a:extLst>
              <a:ext uri="{FF2B5EF4-FFF2-40B4-BE49-F238E27FC236}">
                <a16:creationId xmlns:a16="http://schemas.microsoft.com/office/drawing/2014/main" id="{D003802C-8DBE-4D23-7621-72739A8D4558}"/>
              </a:ext>
            </a:extLst>
          </p:cNvPr>
          <p:cNvSpPr/>
          <p:nvPr/>
        </p:nvSpPr>
        <p:spPr>
          <a:xfrm>
            <a:off x="6207034" y="3905789"/>
            <a:ext cx="1965960" cy="16459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35">
            <a:extLst>
              <a:ext uri="{FF2B5EF4-FFF2-40B4-BE49-F238E27FC236}">
                <a16:creationId xmlns:a16="http://schemas.microsoft.com/office/drawing/2014/main" id="{0EC6812C-90DF-262B-6A0B-C811FCB678BC}"/>
              </a:ext>
            </a:extLst>
          </p:cNvPr>
          <p:cNvSpPr/>
          <p:nvPr/>
        </p:nvSpPr>
        <p:spPr>
          <a:xfrm>
            <a:off x="6207034" y="4161821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3-4 Days</a:t>
            </a:r>
            <a:endParaRPr lang="en-US" sz="2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6E86B673-2363-5499-0826-6BD7CFB2A1B7}"/>
              </a:ext>
            </a:extLst>
          </p:cNvPr>
          <p:cNvSpPr/>
          <p:nvPr/>
        </p:nvSpPr>
        <p:spPr>
          <a:xfrm>
            <a:off x="6207034" y="4801901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Days</a:t>
            </a:r>
            <a:endParaRPr lang="en-US" sz="1100" dirty="0"/>
          </a:p>
        </p:txBody>
      </p:sp>
      <p:sp>
        <p:nvSpPr>
          <p:cNvPr id="73" name="Text 37">
            <a:extLst>
              <a:ext uri="{FF2B5EF4-FFF2-40B4-BE49-F238E27FC236}">
                <a16:creationId xmlns:a16="http://schemas.microsoft.com/office/drawing/2014/main" id="{43C14E15-6EF8-AA76-B389-68ACC1C70135}"/>
              </a:ext>
            </a:extLst>
          </p:cNvPr>
          <p:cNvSpPr/>
          <p:nvPr/>
        </p:nvSpPr>
        <p:spPr>
          <a:xfrm>
            <a:off x="6298474" y="5094509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Timeline</a:t>
            </a:r>
            <a:endParaRPr lang="en-US" sz="900" dirty="0"/>
          </a:p>
        </p:txBody>
      </p:sp>
      <p:sp>
        <p:nvSpPr>
          <p:cNvPr id="75" name="Shape 33">
            <a:extLst>
              <a:ext uri="{FF2B5EF4-FFF2-40B4-BE49-F238E27FC236}">
                <a16:creationId xmlns:a16="http://schemas.microsoft.com/office/drawing/2014/main" id="{7481C401-013E-C29E-1718-BA764B7228C2}"/>
              </a:ext>
            </a:extLst>
          </p:cNvPr>
          <p:cNvSpPr/>
          <p:nvPr/>
        </p:nvSpPr>
        <p:spPr>
          <a:xfrm>
            <a:off x="8340631" y="390579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Shape 34">
            <a:extLst>
              <a:ext uri="{FF2B5EF4-FFF2-40B4-BE49-F238E27FC236}">
                <a16:creationId xmlns:a16="http://schemas.microsoft.com/office/drawing/2014/main" id="{7436997C-B286-A649-4292-81FE22568265}"/>
              </a:ext>
            </a:extLst>
          </p:cNvPr>
          <p:cNvSpPr/>
          <p:nvPr/>
        </p:nvSpPr>
        <p:spPr>
          <a:xfrm>
            <a:off x="8340631" y="3905790"/>
            <a:ext cx="1965960" cy="1645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35">
            <a:extLst>
              <a:ext uri="{FF2B5EF4-FFF2-40B4-BE49-F238E27FC236}">
                <a16:creationId xmlns:a16="http://schemas.microsoft.com/office/drawing/2014/main" id="{0FE22BF1-3D9B-38E8-7C08-4A176EFAFE56}"/>
              </a:ext>
            </a:extLst>
          </p:cNvPr>
          <p:cNvSpPr/>
          <p:nvPr/>
        </p:nvSpPr>
        <p:spPr>
          <a:xfrm>
            <a:off x="8340631" y="416182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3,999</a:t>
            </a:r>
            <a:endParaRPr lang="en-US" sz="2600" dirty="0"/>
          </a:p>
        </p:txBody>
      </p:sp>
      <p:sp>
        <p:nvSpPr>
          <p:cNvPr id="81" name="Text 36">
            <a:extLst>
              <a:ext uri="{FF2B5EF4-FFF2-40B4-BE49-F238E27FC236}">
                <a16:creationId xmlns:a16="http://schemas.microsoft.com/office/drawing/2014/main" id="{A55B73EB-50B9-080D-5E32-691BB2CDF0E0}"/>
              </a:ext>
            </a:extLst>
          </p:cNvPr>
          <p:cNvSpPr/>
          <p:nvPr/>
        </p:nvSpPr>
        <p:spPr>
          <a:xfrm>
            <a:off x="8340631" y="480190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Orders</a:t>
            </a:r>
            <a:endParaRPr lang="en-US" sz="1100" dirty="0"/>
          </a:p>
        </p:txBody>
      </p:sp>
      <p:sp>
        <p:nvSpPr>
          <p:cNvPr id="83" name="Text 37">
            <a:extLst>
              <a:ext uri="{FF2B5EF4-FFF2-40B4-BE49-F238E27FC236}">
                <a16:creationId xmlns:a16="http://schemas.microsoft.com/office/drawing/2014/main" id="{C3DC11BB-E9FE-4C13-A194-6241CD49F2D9}"/>
              </a:ext>
            </a:extLst>
          </p:cNvPr>
          <p:cNvSpPr/>
          <p:nvPr/>
        </p:nvSpPr>
        <p:spPr>
          <a:xfrm>
            <a:off x="8432071" y="509451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Delivered After The Average Delivery Timeline</a:t>
            </a:r>
            <a:endParaRPr lang="en-US" sz="900" dirty="0"/>
          </a:p>
        </p:txBody>
      </p:sp>
      <p:sp>
        <p:nvSpPr>
          <p:cNvPr id="84" name="Shape 23">
            <a:extLst>
              <a:ext uri="{FF2B5EF4-FFF2-40B4-BE49-F238E27FC236}">
                <a16:creationId xmlns:a16="http://schemas.microsoft.com/office/drawing/2014/main" id="{F5905B89-FBCD-8047-24C4-A5382573D538}"/>
              </a:ext>
            </a:extLst>
          </p:cNvPr>
          <p:cNvSpPr/>
          <p:nvPr/>
        </p:nvSpPr>
        <p:spPr>
          <a:xfrm>
            <a:off x="9463314" y="2026189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Shape 24">
            <a:extLst>
              <a:ext uri="{FF2B5EF4-FFF2-40B4-BE49-F238E27FC236}">
                <a16:creationId xmlns:a16="http://schemas.microsoft.com/office/drawing/2014/main" id="{2D58AA11-32D7-6A72-658B-E202F440E6A0}"/>
              </a:ext>
            </a:extLst>
          </p:cNvPr>
          <p:cNvSpPr/>
          <p:nvPr/>
        </p:nvSpPr>
        <p:spPr>
          <a:xfrm>
            <a:off x="9463314" y="2026189"/>
            <a:ext cx="196596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25">
            <a:extLst>
              <a:ext uri="{FF2B5EF4-FFF2-40B4-BE49-F238E27FC236}">
                <a16:creationId xmlns:a16="http://schemas.microsoft.com/office/drawing/2014/main" id="{2DC99A8A-7A9C-6040-FCC9-8748C116BFC5}"/>
              </a:ext>
            </a:extLst>
          </p:cNvPr>
          <p:cNvSpPr/>
          <p:nvPr/>
        </p:nvSpPr>
        <p:spPr>
          <a:xfrm>
            <a:off x="9463314" y="2282221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$458.61</a:t>
            </a:r>
            <a:endParaRPr lang="en-US" sz="26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BD718681-E314-9544-4CC2-D5DB67D07292}"/>
              </a:ext>
            </a:extLst>
          </p:cNvPr>
          <p:cNvSpPr/>
          <p:nvPr/>
        </p:nvSpPr>
        <p:spPr>
          <a:xfrm>
            <a:off x="9463314" y="2922301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88" name="Text 27">
            <a:extLst>
              <a:ext uri="{FF2B5EF4-FFF2-40B4-BE49-F238E27FC236}">
                <a16:creationId xmlns:a16="http://schemas.microsoft.com/office/drawing/2014/main" id="{BE8521B6-2F9B-250F-B51E-B556CBD7628B}"/>
              </a:ext>
            </a:extLst>
          </p:cNvPr>
          <p:cNvSpPr/>
          <p:nvPr/>
        </p:nvSpPr>
        <p:spPr>
          <a:xfrm>
            <a:off x="9554754" y="3214909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÷ Total orders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50141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9E4F-1041-423B-371E-C0CADD9E4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56819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PERFORMANCE DASHBOARD LAYOUT</a:t>
            </a:r>
            <a:b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2000" cap="none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pictures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36377-4C1E-7DAB-D9F4-BCD8582BA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01" y="1057164"/>
            <a:ext cx="5727899" cy="3198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0F4FD8-2C0F-192A-194C-F7B9C6A49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303" y="2543830"/>
            <a:ext cx="5727898" cy="3438623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5B527F11-5902-5DA0-FB13-B72E61B2E348}"/>
              </a:ext>
            </a:extLst>
          </p:cNvPr>
          <p:cNvSpPr/>
          <p:nvPr/>
        </p:nvSpPr>
        <p:spPr>
          <a:xfrm>
            <a:off x="6070218" y="957073"/>
            <a:ext cx="2507725" cy="8815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West leads all regions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Tables losing money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Technology is best category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073DE5D7-A9D4-39C6-E694-738ABCDC059C}"/>
              </a:ext>
            </a:extLst>
          </p:cNvPr>
          <p:cNvSpPr/>
          <p:nvPr/>
        </p:nvSpPr>
        <p:spPr>
          <a:xfrm>
            <a:off x="2140197" y="4631283"/>
            <a:ext cx="3864077" cy="845286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  <p:txBody>
          <a:bodyPr/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/>
              <a:t>Sean Miller top customer at $25K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/>
              <a:t>60% on-time rate needs improvement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/>
              <a:t>Q1 2018 delivery spike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54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67A3-E5C6-D2A2-E6B5-185FBA0BA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br>
              <a:rPr lang="en-US" sz="2000" b="1" cap="none" dirty="0"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2000" b="1" cap="none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2000" cap="none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uperstore sales performance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4BE8-5F9F-7010-BCCE-D98FF35D9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Autofit/>
          </a:bodyPr>
          <a:lstStyle/>
          <a:p>
            <a:pPr algn="just"/>
            <a:r>
              <a:rPr lang="en-US" sz="1800" dirty="0"/>
              <a:t>Total revenue is $2.30M across 4 years with a 12.47% profit margin. </a:t>
            </a:r>
          </a:p>
          <a:p>
            <a:pPr algn="just"/>
            <a:r>
              <a:rPr lang="en-US" sz="1800" dirty="0"/>
              <a:t>While sales grew consistently from $484K in 2014 to $733K in 2017 a 51% increase the profit margin remains thin, meaning the business is growing in volume but not necessarily in efficiency.</a:t>
            </a:r>
          </a:p>
          <a:p>
            <a:pPr algn="just"/>
            <a:r>
              <a:rPr lang="en-US" sz="1800" dirty="0"/>
              <a:t>November and December consistently spike 35–40% above monthly average every year. The business is heavily dependent on holiday season demand.</a:t>
            </a:r>
          </a:p>
          <a:p>
            <a:pPr algn="just"/>
            <a:r>
              <a:rPr lang="en-US" sz="1800" dirty="0"/>
              <a:t>West region generates highest revenue at $725K</a:t>
            </a:r>
          </a:p>
          <a:p>
            <a:pPr algn="just"/>
            <a:r>
              <a:rPr lang="en-US" sz="1800" dirty="0"/>
              <a:t> Technology is most profitable category at 36.4%</a:t>
            </a:r>
          </a:p>
          <a:p>
            <a:pPr algn="just"/>
            <a:r>
              <a:rPr lang="en-US" sz="1800" dirty="0"/>
              <a:t>Tables sub-category loses -8.56%  needs review</a:t>
            </a:r>
          </a:p>
          <a:p>
            <a:pPr algn="just"/>
            <a:r>
              <a:rPr lang="en-US" sz="1800" dirty="0"/>
              <a:t>Consumer segment drives 50.5% of all sales</a:t>
            </a:r>
          </a:p>
          <a:p>
            <a:pPr algn="just"/>
            <a:r>
              <a:rPr lang="en-US" sz="1800" dirty="0"/>
              <a:t>Delivery on-time rate is 60%  below 80% benchmark</a:t>
            </a:r>
          </a:p>
        </p:txBody>
      </p:sp>
    </p:spTree>
    <p:extLst>
      <p:ext uri="{BB962C8B-B14F-4D97-AF65-F5344CB8AC3E}">
        <p14:creationId xmlns:p14="http://schemas.microsoft.com/office/powerpoint/2010/main" val="3645513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12F4-7B2D-388B-B5FE-2F00F885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br>
              <a:rPr lang="en-US" sz="2800" dirty="0"/>
            </a:br>
            <a:r>
              <a:rPr lang="en-US" sz="2000" cap="none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 driven actions to improve business performance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8CFE-8112-E19F-35D1-A51EEC2D1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27868"/>
          </a:xfrm>
        </p:spPr>
        <p:txBody>
          <a:bodyPr/>
          <a:lstStyle/>
          <a:p>
            <a:r>
              <a:rPr lang="en-US" dirty="0"/>
              <a:t>Cap discounts on Furniture at 20% maximum. Orders with discounts above 30% consistently generate negative profit.</a:t>
            </a:r>
          </a:p>
          <a:p>
            <a:r>
              <a:rPr lang="en-US" dirty="0"/>
              <a:t>Invest more marketing budget in Technology</a:t>
            </a:r>
          </a:p>
          <a:p>
            <a:r>
              <a:rPr lang="en-US" dirty="0"/>
              <a:t>Review Table and Bookcase product line</a:t>
            </a:r>
          </a:p>
          <a:p>
            <a:r>
              <a:rPr lang="en-US" dirty="0"/>
              <a:t> Investigate Texas high sales but negative profit</a:t>
            </a:r>
          </a:p>
          <a:p>
            <a:r>
              <a:rPr lang="en-US" dirty="0"/>
              <a:t>Improve Standard Class delivery process</a:t>
            </a:r>
          </a:p>
          <a:p>
            <a:r>
              <a:rPr lang="en-US" dirty="0"/>
              <a:t>Focus retention efforts on top 10 customers </a:t>
            </a:r>
          </a:p>
          <a:p>
            <a:r>
              <a:rPr lang="en-US" dirty="0"/>
              <a:t>Promote Same Day and First-Class shipping.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120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BF5C-8F2D-5804-4F81-8753959D8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br>
              <a:rPr lang="en-US" sz="2800" dirty="0"/>
            </a:br>
            <a:r>
              <a:rPr lang="en-US" sz="2000" cap="none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encountered during the project and how they were resolved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55870-5FC5-CADA-A03D-328EDFB07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During this project, I faced challenges related to data cleaning, DAX measures creation, time intelligence calculations, map visualization issues and dashboard design optimization.</a:t>
            </a:r>
          </a:p>
          <a:p>
            <a:pPr marL="0" indent="0">
              <a:buNone/>
            </a:pPr>
            <a:r>
              <a:rPr lang="en-US" dirty="0"/>
              <a:t>These challenges improved my understanding of Power BI modelling, data preparation and effective business storytelling through dashboards.</a:t>
            </a:r>
          </a:p>
        </p:txBody>
      </p:sp>
    </p:spTree>
    <p:extLst>
      <p:ext uri="{BB962C8B-B14F-4D97-AF65-F5344CB8AC3E}">
        <p14:creationId xmlns:p14="http://schemas.microsoft.com/office/powerpoint/2010/main" val="536519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6A61-1B9D-2077-4152-277A01AF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br>
              <a:rPr lang="en-US" sz="2800" dirty="0"/>
            </a:b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4059B-3554-939C-3150-4CD98672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/>
              <a:t>This analysis reveals that: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The Superstore is growing in revenue but leaving significant profit on the table through over-discounting, loss-making product lines and below-benchmark delivery performance.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Fixing the discount policy alone could recover an estimated $80K+ in annual profit.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Paired with targeted investment in Technology and Corporate customers, the business has a clear path to both higher revenue and healthier margins.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dirty="0"/>
              <a:t>The insights provide a clear roadmap for improving both revenue and operational efficiency.</a:t>
            </a: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8078046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337</TotalTime>
  <Words>631</Words>
  <Application>Microsoft Office PowerPoint</Application>
  <PresentationFormat>Widescreen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Gill Sans MT</vt:lpstr>
      <vt:lpstr>Wingdings</vt:lpstr>
      <vt:lpstr>Gallery</vt:lpstr>
      <vt:lpstr>PowerPoint Presentation</vt:lpstr>
      <vt:lpstr>DATASET OVERVIEW Understanding the superstore dataset structure and scope </vt:lpstr>
      <vt:lpstr>BUSINESS PROBLEM What questions does this dashboard answer? </vt:lpstr>
      <vt:lpstr>KEY PERFORMANCE INDICATORS (KPI) 9 critical metrics powering the superstore dashboard </vt:lpstr>
      <vt:lpstr>SUPERSTORE SALES PERFORMANCE DASHBOARD LAYOUT Dashboard pictures  </vt:lpstr>
      <vt:lpstr>KEY INSIGHTS Superstore sales performance  </vt:lpstr>
      <vt:lpstr>RECOMMENDATIONS Data- driven actions to improve business performance </vt:lpstr>
      <vt:lpstr>CHALLENGES FACED Obstacles encountered during the project and how they were resolved </vt:lpstr>
      <vt:lpstr>CONCLUSION What This Project Demonstrates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Vivian</dc:creator>
  <cp:lastModifiedBy>Vivian</cp:lastModifiedBy>
  <cp:revision>2</cp:revision>
  <dcterms:created xsi:type="dcterms:W3CDTF">2026-06-25T14:41:33Z</dcterms:created>
  <dcterms:modified xsi:type="dcterms:W3CDTF">2026-06-26T12:22:58Z</dcterms:modified>
</cp:coreProperties>
</file>